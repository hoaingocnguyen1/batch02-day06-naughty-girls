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 ExtraBold"/>
      <p:bold r:id="rId13"/>
      <p:boldItalic r:id="rId14"/>
    </p:embeddedFont>
    <p:embeddedFont>
      <p:font typeface="Plus Jakarta Sans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Urbanis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font" Target="fonts/PlusJakartaSansExtraBold-bold.fntdata"/><Relationship Id="rId24" Type="http://schemas.openxmlformats.org/officeDocument/2006/relationships/font" Target="fonts/UrbanistExtraBold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regular.fntdata"/><Relationship Id="rId14" Type="http://schemas.openxmlformats.org/officeDocument/2006/relationships/font" Target="fonts/PlusJakartaSansExtraBold-boldItalic.fntdata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425" y="4188023"/>
            <a:ext cx="23431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81585" y="1041052"/>
            <a:ext cx="983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EE4D2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Shopee Extension </a:t>
            </a:r>
            <a:r>
              <a:rPr b="0" i="0" lang="en-US" sz="60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MVP STRATEGY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38462" y="3212752"/>
            <a:ext cx="631492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Bứt phá "Tê liệt lựa chọn" – Giải pháp gợi ý ăn trưa thông minh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3675"/>
            <a:ext cx="53340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33675"/>
            <a:ext cx="53340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124200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DÂN VĂN PHÒNG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3124200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NHIỆM VỤ JTBD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648075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Đưa ra quyết định chọn món và đặt hàng </a:t>
            </a:r>
            <a:r>
              <a:rPr b="1" i="0" lang="en-US" sz="1500" u="none" cap="none" strike="noStrike">
                <a:solidFill>
                  <a:srgbClr val="EE4D2D"/>
                </a:solidFill>
                <a:latin typeface="Urbanist"/>
                <a:ea typeface="Urbanist"/>
                <a:cs typeface="Urbanist"/>
                <a:sym typeface="Urbanist"/>
              </a:rPr>
              <a:t>nhanh nhất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để tối ưu thời gian nghỉ ngơi trước giờ làm chiều.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1718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364807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Ăn trưa cá nhân (đơn lẻ)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95287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Ngân sách: </a:t>
            </a:r>
            <a:r>
              <a:rPr b="1" i="0" lang="en-US" sz="1500" u="none" cap="none" strike="noStrike">
                <a:solidFill>
                  <a:srgbClr val="EE4D2D"/>
                </a:solidFill>
                <a:latin typeface="Urbanist"/>
                <a:ea typeface="Urbanist"/>
                <a:cs typeface="Urbanist"/>
                <a:sym typeface="Urbanist"/>
              </a:rPr>
              <a:t>&lt; 60.000đ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25767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Thời gian nghỉ: </a:t>
            </a:r>
            <a:r>
              <a:rPr b="1" i="0" lang="en-US" sz="1500" u="none" cap="none" strike="noStrike">
                <a:solidFill>
                  <a:srgbClr val="EE4D2D"/>
                </a:solidFill>
                <a:latin typeface="Urbanist"/>
                <a:ea typeface="Urbanist"/>
                <a:cs typeface="Urbanist"/>
                <a:sym typeface="Urbanist"/>
              </a:rPr>
              <a:t>45 - 60 phút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171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7004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0052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3100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KHÁCH HÀNG &amp; NHIỆM VỤ (JTBD)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3043237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EE4D2D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87%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471987"/>
            <a:ext cx="533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Khó</a:t>
            </a: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Lựa Chọn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286500" y="5024437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* Dựa trên khảo sát thực tế</a:t>
            </a:r>
            <a:endParaRPr i="1" sz="15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286500" y="2319337"/>
            <a:ext cx="560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80% HỦY ĐƠN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286500" y="279558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 rào cản địa lý và phí vận chuyển quá cao.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286500" y="3576637"/>
            <a:ext cx="560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77% THIẾU TIN TƯỞNG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86500" y="405288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Chấm điểm thuật toán gợi ý hiện tại ≤ 3/5.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NỖI ĐAU THỰC TẾ (PAIN POINTS)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9302"/>
            <a:ext cx="5334000" cy="1634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8975" y="2279300"/>
            <a:ext cx="5279575" cy="16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09625" y="2517427"/>
            <a:ext cx="51006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HIỂU Ý ĐỊNH MƠ HỒ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09625" y="295557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Xử lý ngôn ngữ tự nhiên (NLP) cho các yêu cầu: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"Trời nóng, muốn ăn món gì mát dưới 50k"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444600" y="2523733"/>
            <a:ext cx="51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TRỢ LÝ TIỀN LỌC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87475" y="2959371"/>
            <a:ext cx="485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Tự động lọc quán theo </a:t>
            </a:r>
            <a:r>
              <a:rPr b="1" i="0" lang="en-US" sz="1350" u="none" cap="none" strike="noStrike">
                <a:solidFill>
                  <a:srgbClr val="EE4D2D"/>
                </a:solidFill>
                <a:latin typeface="Urbanist"/>
                <a:ea typeface="Urbanist"/>
                <a:cs typeface="Urbanist"/>
                <a:sym typeface="Urbanist"/>
              </a:rPr>
              <a:t>vị trí thực tế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và </a:t>
            </a:r>
            <a:r>
              <a:rPr b="1" i="0" lang="en-US" sz="1350" u="none" cap="none" strike="noStrike">
                <a:solidFill>
                  <a:srgbClr val="EE4D2D"/>
                </a:solidFill>
                <a:latin typeface="Urbanist"/>
                <a:ea typeface="Urbanist"/>
                <a:cs typeface="Urbanist"/>
                <a:sym typeface="Urbanist"/>
              </a:rPr>
              <a:t>thời gian thực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55552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0563" y="2546008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SỨC MẠNH ĐỘT PHÁ CỦA AI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2700"/>
            <a:ext cx="53340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52700"/>
            <a:ext cx="53340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62025" y="298132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PHẢI XÂY DỰNG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77025" y="298132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KHÔNG XÂY DỰNG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0289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62025" y="35052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Giao diện Chat tự nhiên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38100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4D2D"/>
                </a:solidFill>
                <a:latin typeface="Urbanist"/>
                <a:ea typeface="Urbanist"/>
                <a:cs typeface="Urbanist"/>
                <a:sym typeface="Urbanist"/>
              </a:rPr>
              <a:t>Bộ 3 đề xuất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thực tế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41148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ý do minh bạch (&lt; 12 từ)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62025" y="4419600"/>
            <a:ext cx="455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0289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677025" y="35052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Thanh toán tự động 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77025" y="38100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Gợi ý theo nhóm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77025" y="41148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Chat đa lĩnh vực (ngoài ẩm thực)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PHẠM VI MVP (SCOPE)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68973"/>
            <a:ext cx="355595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4168973"/>
            <a:ext cx="355595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4168973"/>
            <a:ext cx="3556099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571500" y="312702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10733" y="306987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KHẢO SÁT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3441352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Xác định nỗi đau (N=15)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383413" y="306987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DỮ LIỆU NỀN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3444180" y="3441352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Thiết lập Prompt System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256094" y="306987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WIZARD-OF-OZ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16860" y="3441352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Kiểm tra ảo giác AI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128774" y="306987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PROTOTYPE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189541" y="3441352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Sẵn sàng Day 06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4454723"/>
            <a:ext cx="2984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NORTH STAR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4664273"/>
            <a:ext cx="2984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0B981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CTR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5121473"/>
            <a:ext cx="2984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Đặt hàng liên kết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603700" y="4454723"/>
            <a:ext cx="2984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ACCURACY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603700" y="4664273"/>
            <a:ext cx="2984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0B981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&gt; 95%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03700" y="5121473"/>
            <a:ext cx="2984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Gợi ý chính xác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50150" y="4454723"/>
            <a:ext cx="29845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SATISFACTION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350150" y="4664273"/>
            <a:ext cx="2984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0B981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4.0 / 5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350150" y="5121473"/>
            <a:ext cx="29845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Độ tin cậy gợi ý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KIỂM CHỨNG &amp; CHỈ SỐ THÀNH CÔNG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672530" y="265077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E4D2D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545210" y="265077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E4D2D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417891" y="265077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10290571" y="265077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2095500" y="1623119"/>
            <a:ext cx="8001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EE4D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DEMO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2286000" y="310901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Cảm ơn Hội đồng đã lắng nghe. Sẵn sàng cho 4 kịch bản Demo: Happy Path, Low-Confidence, Failure, và Refine.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0650" y="441186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4872037" y="4888110"/>
            <a:ext cx="11334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PROTOTYPE READY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2737" y="441186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6386512" y="4888110"/>
            <a:ext cx="93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DAY 06 LAUNCH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